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02C0846-0247-1778-82FC-56B7FAB1FD58}">
          <p14:sldIdLst>
            <p14:sldId id="256"/>
            <p14:sldId id="257"/>
            <p14:sldId id="258"/>
          </p14:sldIdLst>
        </p14:section>
        <p14:section name="The Algorithm" id="{CEEFF30A-D7C4-06F2-9221-974163968A23}">
          <p14:sldIdLst>
            <p14:sldId id="259"/>
            <p14:sldId id="260"/>
            <p14:sldId id="261"/>
          </p14:sldIdLst>
        </p14:section>
        <p14:section name="Results and Analysis" id="{3669F71E-522C-81FF-11B1-EE0935AB1759}">
          <p14:sldIdLst>
            <p14:sldId id="262"/>
            <p14:sldId id="263"/>
          </p14:sldIdLst>
        </p14:section>
        <p14:section name="Wrap-up" id="{D050D87F-B502-010C-B54C-D05B852D49F1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427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Prim’s Algorithm for finding a Minimum Spanning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69164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anel"/>
          <p:cNvSpPr/>
          <p:nvPr/>
        </p:nvSpPr>
        <p:spPr>
          <a:xfrm>
            <a:off x="457200" y="1097279"/>
            <a:ext cx="6466114" cy="2674621"/>
          </a:xfrm>
          <a:prstGeom prst="roundRect">
            <a:avLst>
              <a:gd name="adj" fmla="val 4800"/>
            </a:avLst>
          </a:prstGeom>
          <a:solidFill>
            <a:schemeClr val="tx1">
              <a:alpha val="82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691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Prim’s Algorithm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Minimum Spanning Tree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3B7F5-FD2E-5F07-1B2E-9FE0E3507FD4}"/>
              </a:ext>
            </a:extLst>
          </p:cNvPr>
          <p:cNvSpPr txBox="1"/>
          <p:nvPr/>
        </p:nvSpPr>
        <p:spPr>
          <a:xfrm>
            <a:off x="4449536" y="3188970"/>
            <a:ext cx="38617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Submitted by: Shobhit Singh Chouhan </a:t>
            </a:r>
          </a:p>
          <a:p>
            <a:r>
              <a:rPr lang="en-US" sz="1200" dirty="0">
                <a:solidFill>
                  <a:schemeClr val="bg1"/>
                </a:solidFill>
              </a:rPr>
              <a:t>PRN: 25070521243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Introduction to Prim’s Algorithm</a:t>
            </a:r>
            <a:endParaRPr lang="en-US" sz="3200" dirty="0"/>
          </a:p>
        </p:txBody>
      </p:sp>
      <p:sp>
        <p:nvSpPr>
          <p:cNvPr id="3" name="Intro card 1"/>
          <p:cNvSpPr/>
          <p:nvPr/>
        </p:nvSpPr>
        <p:spPr>
          <a:xfrm>
            <a:off x="457200" y="1234440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Intro icon bg 1"/>
          <p:cNvSpPr/>
          <p:nvPr/>
        </p:nvSpPr>
        <p:spPr>
          <a:xfrm>
            <a:off x="640080" y="134416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472184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7101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 greedy algorithm used to find the Minimum Spanning Tree (MST) of a connected, weighted, undirected graph.</a:t>
            </a:r>
            <a:endParaRPr lang="en-US" sz="1400" dirty="0"/>
          </a:p>
        </p:txBody>
      </p:sp>
      <p:sp>
        <p:nvSpPr>
          <p:cNvPr id="7" name="Intro card 2"/>
          <p:cNvSpPr/>
          <p:nvPr/>
        </p:nvSpPr>
        <p:spPr>
          <a:xfrm>
            <a:off x="457200" y="2057400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Intro icon bg 2"/>
          <p:cNvSpPr/>
          <p:nvPr/>
        </p:nvSpPr>
        <p:spPr>
          <a:xfrm>
            <a:off x="640080" y="216712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29514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0939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 connects all vertices with the minimum possible total edge weight.</a:t>
            </a:r>
            <a:endParaRPr lang="en-US" sz="1400" dirty="0"/>
          </a:p>
        </p:txBody>
      </p:sp>
      <p:sp>
        <p:nvSpPr>
          <p:cNvPr id="11" name="Intro card 3"/>
          <p:cNvSpPr/>
          <p:nvPr/>
        </p:nvSpPr>
        <p:spPr>
          <a:xfrm>
            <a:off x="457200" y="2880360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ntro icon bg 3"/>
          <p:cNvSpPr/>
          <p:nvPr/>
        </p:nvSpPr>
        <p:spPr>
          <a:xfrm>
            <a:off x="640080" y="299008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11810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91693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 starts from any vertex and gradually adds the minimum-weight edge connecting a visited vertex to an unvisited vertex.</a:t>
            </a:r>
            <a:endParaRPr lang="en-US" sz="1400" dirty="0"/>
          </a:p>
        </p:txBody>
      </p:sp>
      <p:sp>
        <p:nvSpPr>
          <p:cNvPr id="15" name="Intro card 4"/>
          <p:cNvSpPr/>
          <p:nvPr/>
        </p:nvSpPr>
        <p:spPr>
          <a:xfrm>
            <a:off x="457200" y="3703320"/>
            <a:ext cx="8229600" cy="713232"/>
          </a:xfrm>
          <a:prstGeom prst="roundRect">
            <a:avLst>
              <a:gd name="adj" fmla="val 15385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ntro icon bg 4"/>
          <p:cNvSpPr/>
          <p:nvPr/>
        </p:nvSpPr>
        <p:spPr>
          <a:xfrm>
            <a:off x="640080" y="3813048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94106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373989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 does not form any cycles in the Minimum Spanning Tree.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is a Minimum Spanning Tree?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3444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V − 1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edges (V = vertices)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68980" y="123444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268980" y="1325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26898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cycles formed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080760" y="1234440"/>
            <a:ext cx="2606040" cy="1325880"/>
          </a:xfrm>
          <a:prstGeom prst="roundRect">
            <a:avLst>
              <a:gd name="adj" fmla="val 8276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080760" y="13258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All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20574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vertices connected</a:t>
            </a:r>
            <a:endParaRPr lang="en-US" sz="1400" dirty="0"/>
          </a:p>
        </p:txBody>
      </p:sp>
      <p:sp>
        <p:nvSpPr>
          <p:cNvPr id="12" name="Definition panel"/>
          <p:cNvSpPr/>
          <p:nvPr/>
        </p:nvSpPr>
        <p:spPr>
          <a:xfrm>
            <a:off x="457200" y="2788920"/>
            <a:ext cx="8229600" cy="1783080"/>
          </a:xfrm>
          <a:prstGeom prst="roundRect">
            <a:avLst>
              <a:gd name="adj" fmla="val 6154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288036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Spanning Tree: </a:t>
            </a:r>
            <a:r>
              <a:rPr lang="en-US" sz="1400" dirty="0">
                <a:solidFill>
                  <a:schemeClr val="bg1"/>
                </a:solidFill>
              </a:rPr>
              <a:t>connects all vertices of a graph without forming any cycles.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Minimum Spanning Tree: </a:t>
            </a:r>
            <a:r>
              <a:rPr lang="en-US" sz="1400" dirty="0">
                <a:solidFill>
                  <a:schemeClr val="bg1"/>
                </a:solidFill>
              </a:rPr>
              <a:t>the spanning tree with the minimum total edge weight.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Example: </a:t>
            </a:r>
            <a:r>
              <a:rPr lang="en-US" sz="1400" dirty="0">
                <a:solidFill>
                  <a:schemeClr val="bg1"/>
                </a:solidFill>
              </a:rPr>
              <a:t>a network connecting four cities with the lowest possible construction cost.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Greedy 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Prim’s Algorithm selects the best available edge at each step.</a:t>
            </a:r>
            <a:endParaRPr lang="en-US" sz="1400" dirty="0"/>
          </a:p>
        </p:txBody>
      </p:sp>
      <p:sp>
        <p:nvSpPr>
          <p:cNvPr id="4" name="Step card 1"/>
          <p:cNvSpPr/>
          <p:nvPr/>
        </p:nvSpPr>
        <p:spPr>
          <a:xfrm>
            <a:off x="457200" y="1600200"/>
            <a:ext cx="1536192" cy="2240280"/>
          </a:xfrm>
          <a:prstGeom prst="roundRect">
            <a:avLst>
              <a:gd name="adj" fmla="val 7143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ep number 1"/>
          <p:cNvSpPr/>
          <p:nvPr/>
        </p:nvSpPr>
        <p:spPr>
          <a:xfrm>
            <a:off x="978408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ep number 1 label"/>
          <p:cNvSpPr txBox="1"/>
          <p:nvPr/>
        </p:nvSpPr>
        <p:spPr>
          <a:xfrm>
            <a:off x="978408" y="1737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Start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Begin from any vertex.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2130552" y="1600200"/>
            <a:ext cx="1536192" cy="2240280"/>
          </a:xfrm>
          <a:prstGeom prst="roundRect">
            <a:avLst>
              <a:gd name="adj" fmla="val 7143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ep number 2"/>
          <p:cNvSpPr/>
          <p:nvPr/>
        </p:nvSpPr>
        <p:spPr>
          <a:xfrm>
            <a:off x="2651760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number 2 label"/>
          <p:cNvSpPr txBox="1"/>
          <p:nvPr/>
        </p:nvSpPr>
        <p:spPr>
          <a:xfrm>
            <a:off x="2651760" y="1737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21992" y="2331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Mark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221992" y="269748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Mark the vertex as visited.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3803904" y="1600200"/>
            <a:ext cx="1536192" cy="2240280"/>
          </a:xfrm>
          <a:prstGeom prst="roundRect">
            <a:avLst>
              <a:gd name="adj" fmla="val 7143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ep number 3"/>
          <p:cNvSpPr/>
          <p:nvPr/>
        </p:nvSpPr>
        <p:spPr>
          <a:xfrm>
            <a:off x="4325112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 number 3 label"/>
          <p:cNvSpPr txBox="1"/>
          <p:nvPr/>
        </p:nvSpPr>
        <p:spPr>
          <a:xfrm>
            <a:off x="4325112" y="1737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2331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Find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269748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Find the minimum-weight edge from a visited to an unvisited vertex.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5477256" y="1600200"/>
            <a:ext cx="1536192" cy="2240280"/>
          </a:xfrm>
          <a:prstGeom prst="roundRect">
            <a:avLst>
              <a:gd name="adj" fmla="val 7143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ep number 4"/>
          <p:cNvSpPr/>
          <p:nvPr/>
        </p:nvSpPr>
        <p:spPr>
          <a:xfrm>
            <a:off x="5998464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ep number 4 label"/>
          <p:cNvSpPr txBox="1"/>
          <p:nvPr/>
        </p:nvSpPr>
        <p:spPr>
          <a:xfrm>
            <a:off x="5998464" y="1737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68696" y="2331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Add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568696" y="269748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Add that edge to the MST.</a:t>
            </a:r>
            <a:endParaRPr lang="en-US" sz="1400" dirty="0"/>
          </a:p>
        </p:txBody>
      </p:sp>
      <p:sp>
        <p:nvSpPr>
          <p:cNvPr id="24" name="Step card 5"/>
          <p:cNvSpPr/>
          <p:nvPr/>
        </p:nvSpPr>
        <p:spPr>
          <a:xfrm>
            <a:off x="7150608" y="1600200"/>
            <a:ext cx="1536192" cy="2240280"/>
          </a:xfrm>
          <a:prstGeom prst="roundRect">
            <a:avLst>
              <a:gd name="adj" fmla="val 7143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ep number 5"/>
          <p:cNvSpPr/>
          <p:nvPr/>
        </p:nvSpPr>
        <p:spPr>
          <a:xfrm>
            <a:off x="7671816" y="1737360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ep number 5 label"/>
          <p:cNvSpPr txBox="1"/>
          <p:nvPr/>
        </p:nvSpPr>
        <p:spPr>
          <a:xfrm>
            <a:off x="7671816" y="1737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42048" y="2331720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Repeat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242048" y="2697480"/>
            <a:ext cx="1353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Continue until all vertices are visited.</a:t>
            </a:r>
            <a:endParaRPr lang="en-US" sz="1400" dirty="0"/>
          </a:p>
        </p:txBody>
      </p:sp>
      <p:sp>
        <p:nvSpPr>
          <p:cNvPr id="29" name="Greedy statement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 locally optimal choice at every step builds the Minimum Spanning Tree.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Working Example</a:t>
            </a:r>
            <a:endParaRPr lang="en-US" sz="3200" dirty="0"/>
          </a:p>
        </p:txBody>
      </p:sp>
      <p:sp>
        <p:nvSpPr>
          <p:cNvPr id="3" name="Graph panel"/>
          <p:cNvSpPr/>
          <p:nvPr/>
        </p:nvSpPr>
        <p:spPr>
          <a:xfrm>
            <a:off x="457200" y="1188720"/>
            <a:ext cx="4572000" cy="2743200"/>
          </a:xfrm>
          <a:prstGeom prst="roundRect">
            <a:avLst>
              <a:gd name="adj" fmla="val 4000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Edge A-B"/>
          <p:cNvSpPr/>
          <p:nvPr/>
        </p:nvSpPr>
        <p:spPr>
          <a:xfrm flipV="1">
            <a:off x="1097280" y="1783080"/>
            <a:ext cx="1645920" cy="77724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Edge A-C"/>
          <p:cNvSpPr/>
          <p:nvPr/>
        </p:nvSpPr>
        <p:spPr>
          <a:xfrm>
            <a:off x="1097280" y="2560320"/>
            <a:ext cx="1645920" cy="77724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Edge B-C"/>
          <p:cNvSpPr/>
          <p:nvPr/>
        </p:nvSpPr>
        <p:spPr>
          <a:xfrm>
            <a:off x="2743200" y="1783080"/>
            <a:ext cx="0" cy="155448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Edge B-D"/>
          <p:cNvSpPr/>
          <p:nvPr/>
        </p:nvSpPr>
        <p:spPr>
          <a:xfrm>
            <a:off x="2743200" y="1783080"/>
            <a:ext cx="1645920" cy="77724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dge C-D"/>
          <p:cNvSpPr/>
          <p:nvPr/>
        </p:nvSpPr>
        <p:spPr>
          <a:xfrm flipV="1">
            <a:off x="2743200" y="2560320"/>
            <a:ext cx="1645920" cy="777240"/>
          </a:xfrm>
          <a:prstGeom prst="line">
            <a:avLst/>
          </a:prstGeom>
          <a:noFill/>
          <a:ln w="3175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ode A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Node A label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A</a:t>
            </a:r>
            <a:endParaRPr lang="en-US" sz="2000" dirty="0"/>
          </a:p>
        </p:txBody>
      </p:sp>
      <p:sp>
        <p:nvSpPr>
          <p:cNvPr id="11" name="Node B"/>
          <p:cNvSpPr/>
          <p:nvPr/>
        </p:nvSpPr>
        <p:spPr>
          <a:xfrm>
            <a:off x="246888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ode B label"/>
          <p:cNvSpPr txBox="1"/>
          <p:nvPr/>
        </p:nvSpPr>
        <p:spPr>
          <a:xfrm>
            <a:off x="24688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B</a:t>
            </a:r>
            <a:endParaRPr lang="en-US" sz="2000" dirty="0"/>
          </a:p>
        </p:txBody>
      </p:sp>
      <p:sp>
        <p:nvSpPr>
          <p:cNvPr id="13" name="Node C"/>
          <p:cNvSpPr/>
          <p:nvPr/>
        </p:nvSpPr>
        <p:spPr>
          <a:xfrm>
            <a:off x="246888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Node C label"/>
          <p:cNvSpPr txBox="1"/>
          <p:nvPr/>
        </p:nvSpPr>
        <p:spPr>
          <a:xfrm>
            <a:off x="24688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C</a:t>
            </a:r>
            <a:endParaRPr lang="en-US" sz="2000" dirty="0"/>
          </a:p>
        </p:txBody>
      </p:sp>
      <p:sp>
        <p:nvSpPr>
          <p:cNvPr id="15" name="Node D"/>
          <p:cNvSpPr/>
          <p:nvPr/>
        </p:nvSpPr>
        <p:spPr>
          <a:xfrm>
            <a:off x="411480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Node D label"/>
          <p:cNvSpPr txBox="1"/>
          <p:nvPr/>
        </p:nvSpPr>
        <p:spPr>
          <a:xfrm>
            <a:off x="41148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</a:t>
            </a:r>
            <a:endParaRPr lang="en-US" sz="2000" dirty="0"/>
          </a:p>
        </p:txBody>
      </p:sp>
      <p:sp>
        <p:nvSpPr>
          <p:cNvPr id="17" name="Weight A-B"/>
          <p:cNvSpPr/>
          <p:nvPr/>
        </p:nvSpPr>
        <p:spPr>
          <a:xfrm>
            <a:off x="1764792" y="2016252"/>
            <a:ext cx="310896" cy="31089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Weight A-B label"/>
          <p:cNvSpPr txBox="1"/>
          <p:nvPr/>
        </p:nvSpPr>
        <p:spPr>
          <a:xfrm>
            <a:off x="1764792" y="2016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Weight A-C"/>
          <p:cNvSpPr/>
          <p:nvPr/>
        </p:nvSpPr>
        <p:spPr>
          <a:xfrm>
            <a:off x="1764792" y="2793492"/>
            <a:ext cx="310896" cy="31089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Weight A-C label"/>
          <p:cNvSpPr txBox="1"/>
          <p:nvPr/>
        </p:nvSpPr>
        <p:spPr>
          <a:xfrm>
            <a:off x="1764792" y="27934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Weight B-C"/>
          <p:cNvSpPr/>
          <p:nvPr/>
        </p:nvSpPr>
        <p:spPr>
          <a:xfrm>
            <a:off x="2587752" y="2404872"/>
            <a:ext cx="310896" cy="31089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Weight B-C label"/>
          <p:cNvSpPr txBox="1"/>
          <p:nvPr/>
        </p:nvSpPr>
        <p:spPr>
          <a:xfrm>
            <a:off x="2587752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Weight B-D"/>
          <p:cNvSpPr/>
          <p:nvPr/>
        </p:nvSpPr>
        <p:spPr>
          <a:xfrm>
            <a:off x="3410712" y="2016252"/>
            <a:ext cx="310896" cy="31089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Weight B-D label"/>
          <p:cNvSpPr txBox="1"/>
          <p:nvPr/>
        </p:nvSpPr>
        <p:spPr>
          <a:xfrm>
            <a:off x="3410712" y="20162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Weight C-D"/>
          <p:cNvSpPr/>
          <p:nvPr/>
        </p:nvSpPr>
        <p:spPr>
          <a:xfrm>
            <a:off x="3410712" y="2793492"/>
            <a:ext cx="310896" cy="31089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Weight C-D label"/>
          <p:cNvSpPr txBox="1"/>
          <p:nvPr/>
        </p:nvSpPr>
        <p:spPr>
          <a:xfrm>
            <a:off x="3410712" y="27934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Edge list panel"/>
          <p:cNvSpPr/>
          <p:nvPr/>
        </p:nvSpPr>
        <p:spPr>
          <a:xfrm>
            <a:off x="5303520" y="118872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57784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Edge weights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169164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 – B  =  2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 – C  =  3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B – C  =  1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B – D  =  4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 – D  =  5</a:t>
            </a:r>
            <a:endParaRPr lang="en-US" sz="1400" dirty="0"/>
          </a:p>
        </p:txBody>
      </p:sp>
      <p:sp>
        <p:nvSpPr>
          <p:cNvPr id="30" name="Start vertex chip"/>
          <p:cNvSpPr/>
          <p:nvPr/>
        </p:nvSpPr>
        <p:spPr>
          <a:xfrm>
            <a:off x="5577840" y="3291840"/>
            <a:ext cx="28346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57784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Starting vertex: A</a:t>
            </a:r>
            <a:endParaRPr lang="en-US" sz="1600" dirty="0"/>
          </a:p>
        </p:txBody>
      </p:sp>
      <p:sp>
        <p:nvSpPr>
          <p:cNvPr id="32" name="Example caption"/>
          <p:cNvSpPr/>
          <p:nvPr/>
        </p:nvSpPr>
        <p:spPr>
          <a:xfrm>
            <a:off x="457200" y="406908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At every step, pick the minimum-weight edge from a visited vertex to an unvisited one.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Step-by-Step Execution</a:t>
            </a:r>
            <a:endParaRPr lang="en-US" sz="3200" dirty="0"/>
          </a:p>
        </p:txBody>
      </p:sp>
      <p:sp>
        <p:nvSpPr>
          <p:cNvPr id="3" name="Execution card 1"/>
          <p:cNvSpPr/>
          <p:nvPr/>
        </p:nvSpPr>
        <p:spPr>
          <a:xfrm>
            <a:off x="457200" y="123444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Execution number 1"/>
          <p:cNvSpPr/>
          <p:nvPr/>
        </p:nvSpPr>
        <p:spPr>
          <a:xfrm>
            <a:off x="640080" y="1581912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Execution number 1 label"/>
          <p:cNvSpPr txBox="1"/>
          <p:nvPr/>
        </p:nvSpPr>
        <p:spPr>
          <a:xfrm>
            <a:off x="640080" y="1581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25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Start at vertex A.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Select A – B with weight 2.</a:t>
            </a:r>
            <a:endParaRPr lang="en-US" sz="1400" dirty="0"/>
          </a:p>
        </p:txBody>
      </p:sp>
      <p:sp>
        <p:nvSpPr>
          <p:cNvPr id="7" name="Execution card 2"/>
          <p:cNvSpPr/>
          <p:nvPr/>
        </p:nvSpPr>
        <p:spPr>
          <a:xfrm>
            <a:off x="4663440" y="123444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Execution number 2"/>
          <p:cNvSpPr/>
          <p:nvPr/>
        </p:nvSpPr>
        <p:spPr>
          <a:xfrm>
            <a:off x="4846320" y="1581912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xecution number 2 label"/>
          <p:cNvSpPr txBox="1"/>
          <p:nvPr/>
        </p:nvSpPr>
        <p:spPr>
          <a:xfrm>
            <a:off x="4846320" y="15819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325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Visited: A and B.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Select B – C with weight 1.</a:t>
            </a:r>
            <a:endParaRPr lang="en-US" sz="1400" dirty="0"/>
          </a:p>
        </p:txBody>
      </p:sp>
      <p:sp>
        <p:nvSpPr>
          <p:cNvPr id="11" name="Execution card 3"/>
          <p:cNvSpPr/>
          <p:nvPr/>
        </p:nvSpPr>
        <p:spPr>
          <a:xfrm>
            <a:off x="457200" y="260604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Execution number 3"/>
          <p:cNvSpPr/>
          <p:nvPr/>
        </p:nvSpPr>
        <p:spPr>
          <a:xfrm>
            <a:off x="640080" y="2953512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Execution number 3 label"/>
          <p:cNvSpPr txBox="1"/>
          <p:nvPr/>
        </p:nvSpPr>
        <p:spPr>
          <a:xfrm>
            <a:off x="640080" y="29535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Visited: A, B and C.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Select B – D with weight 4.</a:t>
            </a:r>
            <a:endParaRPr lang="en-US" sz="1400" dirty="0"/>
          </a:p>
        </p:txBody>
      </p:sp>
      <p:sp>
        <p:nvSpPr>
          <p:cNvPr id="15" name="Execution card 4"/>
          <p:cNvSpPr/>
          <p:nvPr/>
        </p:nvSpPr>
        <p:spPr>
          <a:xfrm>
            <a:off x="4663440" y="2606040"/>
            <a:ext cx="4023360" cy="1188720"/>
          </a:xfrm>
          <a:prstGeom prst="roundRect">
            <a:avLst>
              <a:gd name="adj" fmla="val 9231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Execution number 4"/>
          <p:cNvSpPr/>
          <p:nvPr/>
        </p:nvSpPr>
        <p:spPr>
          <a:xfrm>
            <a:off x="4846320" y="2953512"/>
            <a:ext cx="493776" cy="49377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Execution number 4 label"/>
          <p:cNvSpPr txBox="1"/>
          <p:nvPr/>
        </p:nvSpPr>
        <p:spPr>
          <a:xfrm>
            <a:off x="4846320" y="29535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All vertices are visited.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Stop.</a:t>
            </a:r>
            <a:endParaRPr lang="en-US" sz="1400" dirty="0"/>
          </a:p>
        </p:txBody>
      </p:sp>
      <p:sp>
        <p:nvSpPr>
          <p:cNvPr id="19" name="Final MST bar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Final MST Edges:  </a:t>
            </a:r>
            <a:r>
              <a:rPr lang="en-US" sz="2000" b="1" dirty="0">
                <a:solidFill>
                  <a:schemeClr val="accent1"/>
                </a:solidFill>
              </a:rPr>
              <a:t>A – B,  B – C,  B – 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Result of the Algorithm</a:t>
            </a:r>
            <a:endParaRPr lang="en-US" sz="3200" dirty="0"/>
          </a:p>
        </p:txBody>
      </p:sp>
      <p:graphicFrame>
        <p:nvGraphicFramePr>
          <p:cNvPr id="8" name="MST resul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754880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61428"/>
                          </a:solidFill>
                        </a:rPr>
                        <a:t>Edge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061428"/>
                          </a:solidFill>
                        </a:rPr>
                        <a:t>Weight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A – B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B – C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B – D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Total Weight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5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otal cost card"/>
          <p:cNvSpPr/>
          <p:nvPr/>
        </p:nvSpPr>
        <p:spPr>
          <a:xfrm>
            <a:off x="5486400" y="1234440"/>
            <a:ext cx="3200400" cy="2377440"/>
          </a:xfrm>
          <a:prstGeom prst="roundRect">
            <a:avLst>
              <a:gd name="adj" fmla="val 4615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0" y="13258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1"/>
                </a:solidFill>
              </a:rPr>
              <a:t>7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Total minimum cost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2 + 1 + 4 = 7</a:t>
            </a:r>
            <a:endParaRPr lang="en-US" sz="1400" dirty="0"/>
          </a:p>
        </p:txBody>
      </p:sp>
      <p:sp>
        <p:nvSpPr>
          <p:cNvPr id="3" name="Result summary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Vertices = 4   |   MST edges = 3   |   </a:t>
            </a:r>
            <a:r>
              <a:rPr lang="en-US" sz="1400" b="1" dirty="0">
                <a:solidFill>
                  <a:schemeClr val="bg1"/>
                </a:solidFill>
              </a:rPr>
              <a:t>Prim’s Algorithm finds the MST with total weight 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Time and Space Complexity</a:t>
            </a:r>
            <a:endParaRPr lang="en-US" sz="3200" dirty="0"/>
          </a:p>
        </p:txBody>
      </p:sp>
      <p:sp>
        <p:nvSpPr>
          <p:cNvPr id="3" name="Complexity card 1"/>
          <p:cNvSpPr/>
          <p:nvPr/>
        </p:nvSpPr>
        <p:spPr>
          <a:xfrm>
            <a:off x="457200" y="123444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Time Complexity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O(V²)</a:t>
            </a:r>
            <a:endParaRPr lang="en-US" sz="5400" dirty="0"/>
          </a:p>
        </p:txBody>
      </p:sp>
      <p:sp>
        <p:nvSpPr>
          <p:cNvPr id="6" name="Complexity card 2"/>
          <p:cNvSpPr/>
          <p:nvPr/>
        </p:nvSpPr>
        <p:spPr>
          <a:xfrm>
            <a:off x="4663440" y="1234440"/>
            <a:ext cx="4023360" cy="2377440"/>
          </a:xfrm>
          <a:prstGeom prst="roundRect">
            <a:avLst>
              <a:gd name="adj" fmla="val 4615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66344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Space Complexity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103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O(V²)</a:t>
            </a:r>
            <a:endParaRPr lang="en-US" sz="5400" dirty="0"/>
          </a:p>
        </p:txBody>
      </p:sp>
      <p:sp>
        <p:nvSpPr>
          <p:cNvPr id="9" name="Complexity note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Using an adjacency matrix. V = number of vertices.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Applications of Prim’s Algorithm</a:t>
            </a:r>
            <a:endParaRPr lang="en-US" sz="3200" dirty="0"/>
          </a:p>
        </p:txBody>
      </p:sp>
      <p:sp>
        <p:nvSpPr>
          <p:cNvPr id="3" name="Application row 1"/>
          <p:cNvSpPr/>
          <p:nvPr/>
        </p:nvSpPr>
        <p:spPr>
          <a:xfrm>
            <a:off x="457200" y="114300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pp icon bg 1"/>
          <p:cNvSpPr/>
          <p:nvPr/>
        </p:nvSpPr>
        <p:spPr>
          <a:xfrm>
            <a:off x="594360" y="120700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Computer Networ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3075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14300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Computer Networks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520440" y="11430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Connecting computers with minimum cable cost.</a:t>
            </a:r>
            <a:endParaRPr lang="en-US" sz="1400" dirty="0"/>
          </a:p>
        </p:txBody>
      </p:sp>
      <p:sp>
        <p:nvSpPr>
          <p:cNvPr id="8" name="Application row 2"/>
          <p:cNvSpPr/>
          <p:nvPr/>
        </p:nvSpPr>
        <p:spPr>
          <a:xfrm>
            <a:off x="457200" y="176479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pp icon bg 2"/>
          <p:cNvSpPr/>
          <p:nvPr/>
        </p:nvSpPr>
        <p:spPr>
          <a:xfrm>
            <a:off x="594360" y="182880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Road Constru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929384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7647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Road Construction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176479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Connecting cities with minimum construction cost.</a:t>
            </a:r>
            <a:endParaRPr lang="en-US" sz="1400" dirty="0"/>
          </a:p>
        </p:txBody>
      </p:sp>
      <p:sp>
        <p:nvSpPr>
          <p:cNvPr id="13" name="Application row 3"/>
          <p:cNvSpPr/>
          <p:nvPr/>
        </p:nvSpPr>
        <p:spPr>
          <a:xfrm>
            <a:off x="457200" y="238658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App icon bg 3"/>
          <p:cNvSpPr/>
          <p:nvPr/>
        </p:nvSpPr>
        <p:spPr>
          <a:xfrm>
            <a:off x="594360" y="24505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Electrical Network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55117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3865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Electrical Networks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520440" y="238658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Designing cost-effective power distribution systems.</a:t>
            </a:r>
            <a:endParaRPr lang="en-US" sz="1400" dirty="0"/>
          </a:p>
        </p:txBody>
      </p:sp>
      <p:sp>
        <p:nvSpPr>
          <p:cNvPr id="18" name="Application row 4"/>
          <p:cNvSpPr/>
          <p:nvPr/>
        </p:nvSpPr>
        <p:spPr>
          <a:xfrm>
            <a:off x="457200" y="300837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App icon bg 4"/>
          <p:cNvSpPr/>
          <p:nvPr/>
        </p:nvSpPr>
        <p:spPr>
          <a:xfrm>
            <a:off x="594360" y="307238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Telecommunic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17296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00837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Telecommunication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3520440" y="300837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Building efficient communication networks.</a:t>
            </a:r>
            <a:endParaRPr lang="en-US" sz="1400" dirty="0"/>
          </a:p>
        </p:txBody>
      </p:sp>
      <p:sp>
        <p:nvSpPr>
          <p:cNvPr id="23" name="Application row 5"/>
          <p:cNvSpPr/>
          <p:nvPr/>
        </p:nvSpPr>
        <p:spPr>
          <a:xfrm>
            <a:off x="457200" y="3630168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pp icon bg 5"/>
          <p:cNvSpPr/>
          <p:nvPr/>
        </p:nvSpPr>
        <p:spPr>
          <a:xfrm>
            <a:off x="594360" y="369417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Water Pipelin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3794760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88720" y="36301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Water Pipelines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520440" y="363016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Connecting locations with minimum installation cost.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It helps reduce the total cost of connecting multiple locations.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Advantages and Limitations</a:t>
            </a:r>
            <a:endParaRPr lang="en-US" sz="3200" dirty="0"/>
          </a:p>
        </p:txBody>
      </p:sp>
      <p:sp>
        <p:nvSpPr>
          <p:cNvPr id="3" name="Advantages card"/>
          <p:cNvSpPr/>
          <p:nvPr/>
        </p:nvSpPr>
        <p:spPr>
          <a:xfrm>
            <a:off x="457200" y="109728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Simple and easy to understand.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Produces an MST for a connected, weighted, undirected graph.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Avoids cycles while adding edges.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Useful in network design and optimization.</a:t>
            </a:r>
            <a:endParaRPr lang="en-US" sz="1400" dirty="0"/>
          </a:p>
        </p:txBody>
      </p:sp>
      <p:sp>
        <p:nvSpPr>
          <p:cNvPr id="6" name="Limitations card"/>
          <p:cNvSpPr/>
          <p:nvPr/>
        </p:nvSpPr>
        <p:spPr>
          <a:xfrm>
            <a:off x="4663440" y="109728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0020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Assumes a connected graph to obtain a spanning tree.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Efficiency depends on the chosen data structure.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Not designed to find shortest paths between vertices.</a:t>
            </a:r>
            <a:endParaRPr lang="en-US" sz="1400" dirty="0"/>
          </a:p>
        </p:txBody>
      </p:sp>
      <p:sp>
        <p:nvSpPr>
          <p:cNvPr id="9" name="Conclusion panel"/>
          <p:cNvSpPr/>
          <p:nvPr/>
        </p:nvSpPr>
        <p:spPr>
          <a:xfrm>
            <a:off x="457200" y="374904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tx1">
              <a:alpha val="78000"/>
            </a:schemeClr>
          </a:solidFill>
          <a:ln w="9525">
            <a:solidFill>
              <a:srgbClr val="2B5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5800" y="3749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Conclusion: </a:t>
            </a:r>
            <a:r>
              <a:rPr lang="en-US" sz="1400" dirty="0">
                <a:solidFill>
                  <a:schemeClr val="bg1"/>
                </a:solidFill>
              </a:rPr>
              <a:t>Prim’s Algorithm is an efficient greedy algorithm that connects all vertices with the minimum total edge weight, making it useful for network optimization problems.  </a:t>
            </a:r>
            <a:r>
              <a:rPr lang="en-US" sz="1400" b="1" dirty="0">
                <a:solidFill>
                  <a:schemeClr val="accent1"/>
                </a:solidFill>
              </a:rPr>
              <a:t>Thank You!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6D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1E94-F1E0-5DDC-3987-F185ECDAB6D7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457200" y="1032139"/>
            <a:ext cx="8229600" cy="685800"/>
          </a:xfrm>
        </p:spPr>
        <p:txBody>
          <a:bodyPr/>
          <a:lstStyle/>
          <a:p>
            <a:pPr algn="ctr"/>
            <a:r>
              <a:rPr lang="en-US" sz="5400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8AED3-6F0B-5A1B-EE4F-3BE702E984AA}"/>
              </a:ext>
            </a:extLst>
          </p:cNvPr>
          <p:cNvSpPr txBox="1"/>
          <p:nvPr/>
        </p:nvSpPr>
        <p:spPr>
          <a:xfrm>
            <a:off x="2346690" y="2279362"/>
            <a:ext cx="4450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delle Sans Devanagari" panose="02000503000000020004" pitchFamily="2" charset="-78"/>
                <a:cs typeface="Adelle Sans Devanagari" panose="02000503000000020004" pitchFamily="2" charset="-78"/>
              </a:rPr>
              <a:t>MADE WITH CLAUDE</a:t>
            </a:r>
          </a:p>
        </p:txBody>
      </p:sp>
    </p:spTree>
    <p:extLst>
      <p:ext uri="{BB962C8B-B14F-4D97-AF65-F5344CB8AC3E}">
        <p14:creationId xmlns:p14="http://schemas.microsoft.com/office/powerpoint/2010/main" val="770559448"/>
      </p:ext>
    </p:extLst>
  </p:cSld>
  <p:clrMapOvr>
    <a:masterClrMapping/>
  </p:clrMapOvr>
</p:sld>
</file>

<file path=ppt/theme/theme1.xml><?xml version="1.0" encoding="utf-8"?>
<a:theme xmlns:a="http://schemas.openxmlformats.org/drawingml/2006/main" name="Prim Midnight">
  <a:themeElements>
    <a:clrScheme name="Prim Midnight">
      <a:dk1>
        <a:srgbClr val="061428"/>
      </a:dk1>
      <a:lt1>
        <a:srgbClr val="FFFFFF"/>
      </a:lt1>
      <a:dk2>
        <a:srgbClr val="0E2A5C"/>
      </a:dk2>
      <a:lt2>
        <a:srgbClr val="DCEBFF"/>
      </a:lt2>
      <a:accent1>
        <a:srgbClr val="22D3EE"/>
      </a:accent1>
      <a:accent2>
        <a:srgbClr val="3B82F6"/>
      </a:accent2>
      <a:accent3>
        <a:srgbClr val="38BDF8"/>
      </a:accent3>
      <a:accent4>
        <a:srgbClr val="818CF8"/>
      </a:accent4>
      <a:accent5>
        <a:srgbClr val="34D399"/>
      </a:accent5>
      <a:accent6>
        <a:srgbClr val="FBBF24"/>
      </a:accent6>
      <a:hlink>
        <a:srgbClr val="38BDF8"/>
      </a:hlink>
      <a:folHlink>
        <a:srgbClr val="818CF8"/>
      </a:folHlink>
    </a:clrScheme>
    <a:fontScheme name="Prim Mid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616</Words>
  <Application>Microsoft Macintosh PowerPoint</Application>
  <PresentationFormat>On-screen Show (16:9)</PresentationFormat>
  <Paragraphs>135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Adelle Sans Devanagari</vt:lpstr>
      <vt:lpstr>Arial</vt:lpstr>
      <vt:lpstr>Calibri</vt:lpstr>
      <vt:lpstr>Prim Midnight</vt:lpstr>
      <vt:lpstr>Prim’s Algorithm</vt:lpstr>
      <vt:lpstr>Introduction to Prim’s Algorithm</vt:lpstr>
      <vt:lpstr>What is a Minimum Spanning Tree?</vt:lpstr>
      <vt:lpstr>Greedy Approach</vt:lpstr>
      <vt:lpstr>Working Example</vt:lpstr>
      <vt:lpstr>Step-by-Step Execution</vt:lpstr>
      <vt:lpstr>Result of the Algorithm</vt:lpstr>
      <vt:lpstr>Time and Space Complexity</vt:lpstr>
      <vt:lpstr>Applications of Prim’s Algorithm</vt:lpstr>
      <vt:lpstr>Advantages and Limitations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Prim’s Algorithm</dc:title>
  <dc:subject>PptxGenJS Presentation</dc:subject>
  <dc:creator>Arya Prashant Kohad</dc:creator>
  <cp:lastModifiedBy>prashant kohad</cp:lastModifiedBy>
  <cp:revision>4</cp:revision>
  <dcterms:created xsi:type="dcterms:W3CDTF">2026-10-20T12:09:42Z</dcterms:created>
  <dcterms:modified xsi:type="dcterms:W3CDTF">2026-10-20T16:51:57Z</dcterms:modified>
</cp:coreProperties>
</file>